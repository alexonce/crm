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Bienvenidos al entrenamiento del CRM oficial de WhatsApp de TAMep. Esta plataforma centraliza la atención de nuestros pasajeros, automatiza las consultas frecuentes mediante un bot inteligente y permite a nuestros asesores de ventas brindar una atención humana cálida, rápida y emitir boletos aéreos de forma segura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asesor cuenta con credenciales únicas. Nunca compartan su contraseña con otros compañeros, ya que todas las atenciones, mensajes enviados y boletos vendidos quedan registrados bajo su usuario.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barra superior se ha limpiado de botones innecesarios. Ahora, al presionar su nombre, acceden directamente a su perfil. En la primera sesión, recomendamos cambiar la contraseña temporal por una segura en la pestaña de Seguridad. También pueden activar el modo oscuro si trabajan en turnos nocturnos.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prioridad siempre es la pestaña 'En Espera'. Cada vez que un pasajero solicita un asesor, el sistema emite una alerta sonora y visual. Los agentes disponibles deben tomar estos chats para mantener nuestro tiempo de respuesta en menos de 2 minutos.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hacer clic en 'Tomar Chat', el sistema te asigna la conversación de forma exclusiva en tiempo real. Los demás asesores verán que el chat ya fue atendido, evitando que dos personas respondan a la vez al mismo cliente.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través de este canal pueden recibir los comprobantes de pago por transferencia bancaria o QR de los pasajeros, así como fotos de cédulas de identidad o pasaportes para la emisión.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panel lateral derecho tienen la ficha completa del lead. Verifiquen siempre que el número de carnet y el nombre estén exactamente iguales al documento oficial para evitar inconvenientes en el aeropuerto.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emitir el boleto, el sistema procesa la transacción de manera limpia y segura. El PNR queda registrado en la base de datos oficial de TAMep, el contador del dashboard se actualiza y el pasajero vuelve a tener el bot activo para futuras consultas.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 compañero sale a refrigerio o termina su turno dejando un chat a medias, el asesor que toma el relevo y culmina la atención se queda con la venta registrada a su nombre en el panel de métricas de gerencia.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Siguiendo estas prácticas garantizamos una experiencia de 5 estrellas para nuestros pasajeros y aseguramos que cada una de sus ventas esté perfectamente registrada en el sistema. ¡Gracias por conectar a Bolivia con TAMep!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37160" cy="3474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601200" cy="3474720"/>
          </a:xfrm>
          <a:prstGeom prst="rect">
            <a:avLst/>
          </a:prstGeom>
          <a:noFill/>
        </p:spPr>
        <p:txBody>
          <a:bodyPr wrap="square">
            <a:spAutoFit/>
          </a:bodyPr>
          <a:lstStyle/>
          <a:p>
            <a:pPr>
              <a:defRPr b="1" sz="2800">
                <a:solidFill>
                  <a:srgbClr val="0284C7"/>
                </a:solidFill>
              </a:defRPr>
            </a:pPr>
            <a:r>
              <a:t>TAMep</a:t>
            </a:r>
          </a:p>
          <a:p>
            <a:pPr>
              <a:defRPr b="1" sz="5400">
                <a:solidFill>
                  <a:srgbClr val="FFFFFF"/>
                </a:solidFill>
              </a:defRPr>
            </a:pPr>
            <a:r>
              <a:t>CRM WHATSAPP</a:t>
            </a:r>
          </a:p>
          <a:p>
            <a:pPr>
              <a:spcBef>
                <a:spcPts val="2000"/>
              </a:spcBef>
              <a:defRPr sz="2200">
                <a:solidFill>
                  <a:srgbClr val="BAE6FD"/>
                </a:solidFill>
              </a:defRPr>
            </a:pPr>
            <a:r>
              <a:t>Manual de Operaciones y Capacitación para Asesores de Ventas</a:t>
            </a:r>
          </a:p>
          <a:p>
            <a:pPr>
              <a:spcBef>
                <a:spcPts val="3000"/>
              </a:spcBef>
              <a:defRPr sz="1400">
                <a:solidFill>
                  <a:srgbClr val="64748B"/>
                </a:solidFill>
              </a:defRPr>
            </a:pPr>
            <a:r>
              <a:t>Transporte Aéreo Militar - Empresa Pública (Bolivia)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1. Acceso a la Plataforma (Inicio de Sesión)</a:t>
            </a:r>
          </a:p>
          <a:p>
            <a:pPr>
              <a:defRPr sz="1300">
                <a:solidFill>
                  <a:srgbClr val="BAE6FD"/>
                </a:solidFill>
              </a:defRPr>
            </a:pPr>
            <a:r>
              <a:t>Ingreso seguro al entorno de trabajo con credenciales individuales</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Acceso vía navegador web en puesto de trabajo (URL oficial del CRM).</a:t>
            </a:r>
          </a:p>
          <a:p>
            <a:pPr>
              <a:spcAft>
                <a:spcPts val="1000"/>
              </a:spcAft>
              <a:defRPr sz="1350">
                <a:solidFill>
                  <a:srgbClr val="1E293B"/>
                </a:solidFill>
              </a:defRPr>
            </a:pPr>
            <a:r>
              <a:t>• Ingreso con correo corporativo asignado (ej. agente@tamep.bo).</a:t>
            </a:r>
          </a:p>
          <a:p>
            <a:pPr>
              <a:spcAft>
                <a:spcPts val="1000"/>
              </a:spcAft>
              <a:defRPr sz="1350">
                <a:solidFill>
                  <a:srgbClr val="1E293B"/>
                </a:solidFill>
              </a:defRPr>
            </a:pPr>
            <a:r>
              <a:t>• Contraseña individual y privada (nunca compartir credenciales).</a:t>
            </a:r>
          </a:p>
          <a:p>
            <a:pPr>
              <a:spcAft>
                <a:spcPts val="1000"/>
              </a:spcAft>
              <a:defRPr sz="1350">
                <a:solidFill>
                  <a:srgbClr val="1E293B"/>
                </a:solidFill>
              </a:defRPr>
            </a:pPr>
            <a:r>
              <a:t>• Protección de cuenta con limitador contra intentos repetidos de acceso.</a:t>
            </a:r>
          </a:p>
          <a:p>
            <a:pPr>
              <a:spcAft>
                <a:spcPts val="1000"/>
              </a:spcAft>
              <a:defRPr sz="1350">
                <a:solidFill>
                  <a:srgbClr val="1E293B"/>
                </a:solidFill>
              </a:defRPr>
            </a:pPr>
            <a:r>
              <a:t>• Sesión única por asesor para trazabilidad de ventas y comisiones.</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 la Pantalla de Login (http://127.0.0.1:8000/login)</a:t>
            </a:r>
          </a:p>
          <a:p>
            <a:pPr algn="ctr">
              <a:defRPr i="1" sz="1100">
                <a:solidFill>
                  <a:srgbClr val="94A3B8"/>
                </a:solidFill>
              </a:defRPr>
            </a:pPr>
            <a:r>
              <a:t>(Toma la captura en tu pantalla con Windows + Shift + S y pégala aquí)</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2. Perfil del Asesor y Seguridad de la Cuenta</a:t>
            </a:r>
          </a:p>
          <a:p>
            <a:pPr>
              <a:defRPr sz="1300">
                <a:solidFill>
                  <a:srgbClr val="BAE6FD"/>
                </a:solidFill>
              </a:defRPr>
            </a:pPr>
            <a:r>
              <a:t>Autogestión de contraseña, descanso visual y preferencias</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Acceso directo: Hacer clic sobre el nombre del agente en la esquina superior derecha.</a:t>
            </a:r>
          </a:p>
          <a:p>
            <a:pPr>
              <a:spcAft>
                <a:spcPts val="1000"/>
              </a:spcAft>
              <a:defRPr sz="1350">
                <a:solidFill>
                  <a:srgbClr val="1E293B"/>
                </a:solidFill>
              </a:defRPr>
            </a:pPr>
            <a:r>
              <a:t>• Pestaña 'Información y Preferencias': Alternar Modo Claro / Modo Oscuro.</a:t>
            </a:r>
          </a:p>
          <a:p>
            <a:pPr>
              <a:spcAft>
                <a:spcPts val="1000"/>
              </a:spcAft>
              <a:defRPr sz="1350">
                <a:solidFill>
                  <a:srgbClr val="1E293B"/>
                </a:solidFill>
              </a:defRPr>
            </a:pPr>
            <a:r>
              <a:t>• Alertas y Sonidos: Configuración de notificaciones ante nuevos clientes.</a:t>
            </a:r>
          </a:p>
          <a:p>
            <a:pPr>
              <a:spcAft>
                <a:spcPts val="1000"/>
              </a:spcAft>
              <a:defRPr sz="1350">
                <a:solidFill>
                  <a:srgbClr val="1E293B"/>
                </a:solidFill>
              </a:defRPr>
            </a:pPr>
            <a:r>
              <a:t>• Pestaña 'Seguridad y Contraseña': Cambio de contraseña directo sin soporte técnico.</a:t>
            </a:r>
          </a:p>
          <a:p>
            <a:pPr>
              <a:spcAft>
                <a:spcPts val="1000"/>
              </a:spcAft>
              <a:defRPr sz="1350">
                <a:solidFill>
                  <a:srgbClr val="1E293B"/>
                </a:solidFill>
              </a:defRPr>
            </a:pPr>
            <a:r>
              <a:t>• Validación de seguridad: Requiere contraseña actual y nueva clave (mínimo 8 caracteres).</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del Modal 'Perfil del Asesor' (Pestaña Información y Cambio de Contraseña)</a:t>
            </a:r>
          </a:p>
          <a:p>
            <a:pPr algn="ctr">
              <a:defRPr i="1" sz="1100">
                <a:solidFill>
                  <a:srgbClr val="94A3B8"/>
                </a:solidFill>
              </a:defRPr>
            </a:pPr>
            <a:r>
              <a:t>(Toma la captura en tu pantalla con Windows + Shift + S y pégala aquí)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3. Organización de la Bandeja de Entrada</a:t>
            </a:r>
          </a:p>
          <a:p>
            <a:pPr>
              <a:defRPr sz="1300">
                <a:solidFill>
                  <a:srgbClr val="BAE6FD"/>
                </a:solidFill>
              </a:defRPr>
            </a:pPr>
            <a:r>
              <a:t>Estructura de chats para priorizar y gestionar la atención</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Pestaña 'En Espera' (🛎️): Pasajeros que solicitaron un asesor humano tras interactuar con el bot.</a:t>
            </a:r>
          </a:p>
          <a:p>
            <a:pPr>
              <a:spcAft>
                <a:spcPts val="1000"/>
              </a:spcAft>
              <a:defRPr sz="1350">
                <a:solidFill>
                  <a:srgbClr val="1E293B"/>
                </a:solidFill>
              </a:defRPr>
            </a:pPr>
            <a:r>
              <a:t>• Contador de alerta: Muestra en tiempo real la cantidad de clientes esperando atención.</a:t>
            </a:r>
          </a:p>
          <a:p>
            <a:pPr>
              <a:spcAft>
                <a:spcPts val="1000"/>
              </a:spcAft>
              <a:defRPr sz="1350">
                <a:solidFill>
                  <a:srgbClr val="1E293B"/>
                </a:solidFill>
              </a:defRPr>
            </a:pPr>
            <a:r>
              <a:t>• Pestaña 'Mis Chats' (💬): Conversaciones que tú tienes asignadas activamente en este momento.</a:t>
            </a:r>
          </a:p>
          <a:p>
            <a:pPr>
              <a:spcAft>
                <a:spcPts val="1000"/>
              </a:spcAft>
              <a:defRPr sz="1350">
                <a:solidFill>
                  <a:srgbClr val="1E293B"/>
                </a:solidFill>
              </a:defRPr>
            </a:pPr>
            <a:r>
              <a:t>• Pestaña 'Todos': Vista general y monitoreo de chats del día.</a:t>
            </a:r>
          </a:p>
          <a:p>
            <a:pPr>
              <a:spcAft>
                <a:spcPts val="1000"/>
              </a:spcAft>
              <a:defRPr sz="1350">
                <a:solidFill>
                  <a:srgbClr val="1E293B"/>
                </a:solidFill>
              </a:defRPr>
            </a:pPr>
            <a:r>
              <a:t>• Buscador integrado: Búsqueda instantánea por nombre de cliente o número celular.</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 la Barra Lateral Izquierda (Pestañas 'Mis Chats' y 'En Espera')</a:t>
            </a:r>
          </a:p>
          <a:p>
            <a:pPr algn="ctr">
              <a:defRPr i="1" sz="1100">
                <a:solidFill>
                  <a:srgbClr val="94A3B8"/>
                </a:solidFill>
              </a:defRPr>
            </a:pPr>
            <a:r>
              <a:t>(Toma la captura en tu pantalla con Windows + Shift + S y pégala aquí)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4. Cómo Tomar una Conversación</a:t>
            </a:r>
          </a:p>
          <a:p>
            <a:pPr>
              <a:defRPr sz="1300">
                <a:solidFill>
                  <a:srgbClr val="BAE6FD"/>
                </a:solidFill>
              </a:defRPr>
            </a:pPr>
            <a:r>
              <a:t>Paso de la atención automática (Bot) a la atención personalizada (Asesor)</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Paso 1: Seleccionar el chat de la lista 'En Espera'.</a:t>
            </a:r>
          </a:p>
          <a:p>
            <a:pPr>
              <a:spcAft>
                <a:spcPts val="1000"/>
              </a:spcAft>
              <a:defRPr sz="1350">
                <a:solidFill>
                  <a:srgbClr val="1E293B"/>
                </a:solidFill>
              </a:defRPr>
            </a:pPr>
            <a:r>
              <a:t>• Paso 2: Revisar el historial previo (ruta, fecha y consultas hechas al bot).</a:t>
            </a:r>
          </a:p>
          <a:p>
            <a:pPr>
              <a:spcAft>
                <a:spcPts val="1000"/>
              </a:spcAft>
              <a:defRPr sz="1350">
                <a:solidFill>
                  <a:srgbClr val="1E293B"/>
                </a:solidFill>
              </a:defRPr>
            </a:pPr>
            <a:r>
              <a:t>• Paso 3: Presionar el botón azul 'Tomar Chat' en la cabecera.</a:t>
            </a:r>
          </a:p>
          <a:p>
            <a:pPr>
              <a:spcAft>
                <a:spcPts val="1000"/>
              </a:spcAft>
              <a:defRPr sz="1350">
                <a:solidFill>
                  <a:srgbClr val="1E293B"/>
                </a:solidFill>
              </a:defRPr>
            </a:pPr>
            <a:r>
              <a:t>• Paso 4: El bot se pausa automáticamente y el chat pasa a tu pestaña 'Mis Chats'.</a:t>
            </a:r>
          </a:p>
          <a:p>
            <a:pPr>
              <a:spcAft>
                <a:spcPts val="1000"/>
              </a:spcAft>
              <a:defRPr sz="1350">
                <a:solidFill>
                  <a:srgbClr val="1E293B"/>
                </a:solidFill>
              </a:defRPr>
            </a:pPr>
            <a:r>
              <a:t>• Protección en tiempo real: Si otro asesor lo toma primero, se actualiza al instante.</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 la Cabecera del Chat con el Botón Azul 'Tomar Chat'</a:t>
            </a:r>
          </a:p>
          <a:p>
            <a:pPr algn="ctr">
              <a:defRPr i="1" sz="1100">
                <a:solidFill>
                  <a:srgbClr val="94A3B8"/>
                </a:solidFill>
              </a:defRPr>
            </a:pPr>
            <a:r>
              <a:t>(Toma la captura en tu pantalla con Windows + Shift + S y pégala aquí)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5. Interacción y Envío de Archivos Multimedia</a:t>
            </a:r>
          </a:p>
          <a:p>
            <a:pPr>
              <a:defRPr sz="1300">
                <a:solidFill>
                  <a:srgbClr val="BAE6FD"/>
                </a:solidFill>
              </a:defRPr>
            </a:pPr>
            <a:r>
              <a:t>Canal oficial de WhatsApp para comunicación fluida con el pasajero</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Mensajes de Texto: Escritura fluida. Salto de línea con Shift + Enter y envío con Enter.</a:t>
            </a:r>
          </a:p>
          <a:p>
            <a:pPr>
              <a:spcAft>
                <a:spcPts val="1000"/>
              </a:spcAft>
              <a:defRPr sz="1350">
                <a:solidFill>
                  <a:srgbClr val="1E293B"/>
                </a:solidFill>
              </a:defRPr>
            </a:pPr>
            <a:r>
              <a:t>• Envío de Archivos (📎): Soporta imágenes (comprobantes de pago QR o transferencias).</a:t>
            </a:r>
          </a:p>
          <a:p>
            <a:pPr>
              <a:spcAft>
                <a:spcPts val="1000"/>
              </a:spcAft>
              <a:defRPr sz="1350">
                <a:solidFill>
                  <a:srgbClr val="1E293B"/>
                </a:solidFill>
              </a:defRPr>
            </a:pPr>
            <a:r>
              <a:t>• Documentos (PDF): Envío de cotizaciones oficiales o políticas de equipaje.</a:t>
            </a:r>
          </a:p>
          <a:p>
            <a:pPr>
              <a:spcAft>
                <a:spcPts val="1000"/>
              </a:spcAft>
              <a:defRPr sz="1350">
                <a:solidFill>
                  <a:srgbClr val="1E293B"/>
                </a:solidFill>
              </a:defRPr>
            </a:pPr>
            <a:r>
              <a:t>• Notas de Voz: Recepción y reproducción de mensajes de voz del pasajero.</a:t>
            </a:r>
          </a:p>
          <a:p>
            <a:pPr>
              <a:spcAft>
                <a:spcPts val="1000"/>
              </a:spcAft>
              <a:defRPr sz="1350">
                <a:solidFill>
                  <a:srgbClr val="1E293B"/>
                </a:solidFill>
              </a:defRPr>
            </a:pPr>
            <a:r>
              <a:t>• Navegación por Fecha: Botón 'Fecha' para saltar a Hoy, Ayer o fechas anteriores.</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del Área de Chat (Burbujas de Mensajes, Botón Clip y Redactor)</a:t>
            </a:r>
          </a:p>
          <a:p>
            <a:pPr algn="ctr">
              <a:defRPr i="1" sz="1100">
                <a:solidFill>
                  <a:srgbClr val="94A3B8"/>
                </a:solidFill>
              </a:defRPr>
            </a:pPr>
            <a:r>
              <a:t>(Toma la captura en tu pantalla con Windows + Shift + S y pégala aquí)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6. Panel Lateral de Reserva y Consulta de Vuelos</a:t>
            </a:r>
          </a:p>
          <a:p>
            <a:pPr>
              <a:defRPr sz="1300">
                <a:solidFill>
                  <a:srgbClr val="BAE6FD"/>
                </a:solidFill>
              </a:defRPr>
            </a:pPr>
            <a:r>
              <a:t>Carga y verificación de datos del pasajero en tiempo real</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Datos pre-cargados por el Bot: Nombre, Cédula de Identidad, Ruta y Fecha de Vuelo.</a:t>
            </a:r>
          </a:p>
          <a:p>
            <a:pPr>
              <a:spcAft>
                <a:spcPts val="1000"/>
              </a:spcAft>
              <a:defRPr sz="1350">
                <a:solidFill>
                  <a:srgbClr val="1E293B"/>
                </a:solidFill>
              </a:defRPr>
            </a:pPr>
            <a:r>
              <a:t>• Edición por el asesor: Corrección de nombres, número de documento o ruta si el cliente cambia de plan.</a:t>
            </a:r>
          </a:p>
          <a:p>
            <a:pPr>
              <a:spcAft>
                <a:spcPts val="1000"/>
              </a:spcAft>
              <a:defRPr sz="1350">
                <a:solidFill>
                  <a:srgbClr val="1E293B"/>
                </a:solidFill>
              </a:defRPr>
            </a:pPr>
            <a:r>
              <a:t>• Consulta de Itinerarios TAMep: Verificación de disponibilidad y tarifas oficiales.</a:t>
            </a:r>
          </a:p>
          <a:p>
            <a:pPr>
              <a:spcAft>
                <a:spcPts val="1000"/>
              </a:spcAft>
              <a:defRPr sz="1350">
                <a:solidFill>
                  <a:srgbClr val="1E293B"/>
                </a:solidFill>
              </a:defRPr>
            </a:pPr>
            <a:r>
              <a:t>• Pasajeros múltiples: Configuración de cantidad de pasajeros con cálculo automático del precio total.</a:t>
            </a:r>
          </a:p>
          <a:p>
            <a:pPr>
              <a:spcAft>
                <a:spcPts val="1000"/>
              </a:spcAft>
              <a:defRPr sz="1350">
                <a:solidFill>
                  <a:srgbClr val="1E293B"/>
                </a:solidFill>
              </a:defRPr>
            </a:pPr>
            <a:r>
              <a:t>• Ficha completa: Vista clara de los datos antes de proceder a la venta.</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del Panel Lateral Derecho de Datos del Pasajero</a:t>
            </a:r>
          </a:p>
          <a:p>
            <a:pPr algn="ctr">
              <a:defRPr i="1" sz="1100">
                <a:solidFill>
                  <a:srgbClr val="94A3B8"/>
                </a:solidFill>
              </a:defRPr>
            </a:pPr>
            <a:r>
              <a:t>(Toma la captura en tu pantalla con Windows + Shift + S y pégala aquí)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7. Emisión y Registro de Venta del Boleto</a:t>
            </a:r>
          </a:p>
          <a:p>
            <a:pPr>
              <a:defRPr sz="1300">
                <a:solidFill>
                  <a:srgbClr val="BAE6FD"/>
                </a:solidFill>
              </a:defRPr>
            </a:pPr>
            <a:r>
              <a:t>Proceso oficial de cierre de venta y emisión transaccional</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Paso 1: Confirmar el pago y hacer clic en el botón verde 'Emitir Boleto'.</a:t>
            </a:r>
          </a:p>
          <a:p>
            <a:pPr>
              <a:spcAft>
                <a:spcPts val="1000"/>
              </a:spcAft>
              <a:defRPr sz="1350">
                <a:solidFill>
                  <a:srgbClr val="1E293B"/>
                </a:solidFill>
              </a:defRPr>
            </a:pPr>
            <a:r>
              <a:t>• Paso 2: Ventana de confirmación: '¿Está seguro que vendió el boleto?'.</a:t>
            </a:r>
          </a:p>
          <a:p>
            <a:pPr>
              <a:spcAft>
                <a:spcPts val="1000"/>
              </a:spcAft>
              <a:defRPr sz="1350">
                <a:solidFill>
                  <a:srgbClr val="1E293B"/>
                </a:solidFill>
              </a:defRPr>
            </a:pPr>
            <a:r>
              <a:t>• Paso 3: Al confirmar, el sistema genera el código de reserva PNR oficial (ej. TM-7052).</a:t>
            </a:r>
          </a:p>
          <a:p>
            <a:pPr>
              <a:spcAft>
                <a:spcPts val="1000"/>
              </a:spcAft>
              <a:defRPr sz="1350">
                <a:solidFill>
                  <a:srgbClr val="1E293B"/>
                </a:solidFill>
              </a:defRPr>
            </a:pPr>
            <a:r>
              <a:t>• Paso 4: Alerta de éxito: '¡Boleto Vendido! La venta se ha registrado exitosamente'.</a:t>
            </a:r>
          </a:p>
          <a:p>
            <a:pPr>
              <a:spcAft>
                <a:spcPts val="1000"/>
              </a:spcAft>
              <a:defRPr sz="1350">
                <a:solidFill>
                  <a:srgbClr val="1E293B"/>
                </a:solidFill>
              </a:defRPr>
            </a:pPr>
            <a:r>
              <a:t>• Paso 5: Traspaso limpio al bot: Finaliza la atención humana sin saturar el chat de mensajes.</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del Diálogo SweetAlert ('¿Está seguro que vendió el boleto?' / '¡Boleto Vendido!')</a:t>
            </a:r>
          </a:p>
          <a:p>
            <a:pPr algn="ctr">
              <a:defRPr i="1" sz="1100">
                <a:solidFill>
                  <a:srgbClr val="94A3B8"/>
                </a:solidFill>
              </a:defRPr>
            </a:pPr>
            <a:r>
              <a:t>(Toma la captura en tu pantalla con Windows + Shift + S y pégala aquí)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8. Trabajo en Equipo y Atribución de Ventas</a:t>
            </a:r>
          </a:p>
          <a:p>
            <a:pPr>
              <a:defRPr sz="1300">
                <a:solidFill>
                  <a:srgbClr val="BAE6FD"/>
                </a:solidFill>
              </a:defRPr>
            </a:pPr>
            <a:r>
              <a:t>Reglas de continuidad de chats y registro de comisiones</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¿Qué ocurre si un asesor toma un chat y otro lo continúa y vende?</a:t>
            </a:r>
          </a:p>
          <a:p>
            <a:pPr>
              <a:spcAft>
                <a:spcPts val="1000"/>
              </a:spcAft>
              <a:defRPr sz="1350">
                <a:solidFill>
                  <a:srgbClr val="1E293B"/>
                </a:solidFill>
              </a:defRPr>
            </a:pPr>
            <a:r>
              <a:t>• Reasignación automática: Al enviar una respuesta, el sistema asigna el chat al asesor activo.</a:t>
            </a:r>
          </a:p>
          <a:p>
            <a:pPr>
              <a:spcAft>
                <a:spcPts val="1000"/>
              </a:spcAft>
              <a:defRPr sz="1350">
                <a:solidFill>
                  <a:srgbClr val="1E293B"/>
                </a:solidFill>
              </a:defRPr>
            </a:pPr>
            <a:r>
              <a:t>• Atribución de la venta: El boleto y la venta se acreditan al asesor que emite el pasaje.</a:t>
            </a:r>
          </a:p>
          <a:p>
            <a:pPr>
              <a:spcAft>
                <a:spcPts val="1000"/>
              </a:spcAft>
              <a:defRPr sz="1350">
                <a:solidFill>
                  <a:srgbClr val="1E293B"/>
                </a:solidFill>
              </a:defRPr>
            </a:pPr>
            <a:r>
              <a:t>• Historial transparente: Cada mensaje conserva la autoría del agente que lo escribió.</a:t>
            </a:r>
          </a:p>
          <a:p>
            <a:pPr>
              <a:spcAft>
                <a:spcPts val="1000"/>
              </a:spcAft>
              <a:defRPr sz="1350">
                <a:solidFill>
                  <a:srgbClr val="1E293B"/>
                </a:solidFill>
              </a:defRPr>
            </a:pPr>
            <a:r>
              <a:t>• Métricas de Gerencia: Los boletos vendidos se reflejan en el perfil del agente en el Admin Dashboard.</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 un Chat con Mensajes de Agente o Vista de Métricas</a:t>
            </a:r>
          </a:p>
          <a:p>
            <a:pPr algn="ctr">
              <a:defRPr i="1" sz="1100">
                <a:solidFill>
                  <a:srgbClr val="94A3B8"/>
                </a:solidFill>
              </a:defRPr>
            </a:pPr>
            <a:r>
              <a:t>(Toma la captura en tu pantalla con Windows + Shift + S y pégala aquí)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
            <a:ext cx="10698480" cy="914400"/>
          </a:xfrm>
          <a:prstGeom prst="rect">
            <a:avLst/>
          </a:prstGeom>
          <a:noFill/>
        </p:spPr>
        <p:txBody>
          <a:bodyPr wrap="square">
            <a:spAutoFit/>
          </a:bodyPr>
          <a:lstStyle/>
          <a:p>
            <a:pPr>
              <a:defRPr b="1" sz="2600">
                <a:solidFill>
                  <a:srgbClr val="FFFFFF"/>
                </a:solidFill>
              </a:defRPr>
            </a:pPr>
            <a:r>
              <a:t>9. Buenas Prácticas para una Atención de Excelencia</a:t>
            </a:r>
          </a:p>
          <a:p>
            <a:pPr>
              <a:defRPr sz="1300">
                <a:solidFill>
                  <a:srgbClr val="BAE6FD"/>
                </a:solidFill>
              </a:defRPr>
            </a:pPr>
            <a:r>
              <a:t>Compromiso con la calidad del servicio aeronáutico de TAMep</a:t>
            </a:r>
          </a:p>
        </p:txBody>
      </p:sp>
      <p:sp>
        <p:nvSpPr>
          <p:cNvPr id="5" name="Rounded Rectangle 4"/>
          <p:cNvSpPr/>
          <p:nvPr/>
        </p:nvSpPr>
        <p:spPr>
          <a:xfrm>
            <a:off x="731520" y="1463040"/>
            <a:ext cx="548640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937760" cy="4572000"/>
          </a:xfrm>
          <a:prstGeom prst="rect">
            <a:avLst/>
          </a:prstGeom>
          <a:noFill/>
        </p:spPr>
        <p:txBody>
          <a:bodyPr wrap="square">
            <a:spAutoFit/>
          </a:bodyPr>
          <a:lstStyle/>
          <a:p>
            <a:pPr>
              <a:spcAft>
                <a:spcPts val="1400"/>
              </a:spcAft>
              <a:defRPr b="1" sz="1700">
                <a:solidFill>
                  <a:srgbClr val="0E7490"/>
                </a:solidFill>
              </a:defRPr>
            </a:pPr>
            <a:r>
              <a:t>Puntos Clave y Procedimiento:</a:t>
            </a:r>
          </a:p>
          <a:p>
            <a:pPr>
              <a:spcAft>
                <a:spcPts val="1000"/>
              </a:spcAft>
              <a:defRPr sz="1350">
                <a:solidFill>
                  <a:srgbClr val="1E293B"/>
                </a:solidFill>
              </a:defRPr>
            </a:pPr>
            <a:r>
              <a:t>• ⏱️ Rapidez de Respuesta: Atender chats en espera dentro de los primeros 2 minutos.</a:t>
            </a:r>
          </a:p>
          <a:p>
            <a:pPr>
              <a:spcAft>
                <a:spcPts val="1000"/>
              </a:spcAft>
              <a:defRPr sz="1350">
                <a:solidFill>
                  <a:srgbClr val="1E293B"/>
                </a:solidFill>
              </a:defRPr>
            </a:pPr>
            <a:r>
              <a:t>• 🔍 Precisión en Datos: Validar siempre ortografía del nombre y número de documento antes de emitir.</a:t>
            </a:r>
          </a:p>
          <a:p>
            <a:pPr>
              <a:spcAft>
                <a:spcPts val="1000"/>
              </a:spcAft>
              <a:defRPr sz="1350">
                <a:solidFill>
                  <a:srgbClr val="1E293B"/>
                </a:solidFill>
              </a:defRPr>
            </a:pPr>
            <a:r>
              <a:t>• 🤖 Devolución al Bot: Si el cliente no compra o solo consulta horarios, usar 'Reactivar Bot'.</a:t>
            </a:r>
          </a:p>
          <a:p>
            <a:pPr>
              <a:spcAft>
                <a:spcPts val="1000"/>
              </a:spcAft>
              <a:defRPr sz="1350">
                <a:solidFill>
                  <a:srgbClr val="1E293B"/>
                </a:solidFill>
              </a:defRPr>
            </a:pPr>
            <a:r>
              <a:t>• 🔒 Seguridad al salir: Cerrar sesión en el perfil al terminar el turno de trabajo.</a:t>
            </a:r>
          </a:p>
          <a:p>
            <a:pPr>
              <a:spcAft>
                <a:spcPts val="1000"/>
              </a:spcAft>
              <a:defRPr sz="1350">
                <a:solidFill>
                  <a:srgbClr val="1E293B"/>
                </a:solidFill>
              </a:defRPr>
            </a:pPr>
            <a:r>
              <a:t>• ✈️ Compromiso TAMep: Calidez, respeto y vocación de servicio con todos nuestros pasajeros.</a:t>
            </a:r>
          </a:p>
        </p:txBody>
      </p:sp>
      <p:sp>
        <p:nvSpPr>
          <p:cNvPr id="7" name="Rounded Rectangle 6"/>
          <p:cNvSpPr/>
          <p:nvPr/>
        </p:nvSpPr>
        <p:spPr>
          <a:xfrm>
            <a:off x="6492240" y="1463040"/>
            <a:ext cx="4937760" cy="49377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011680"/>
            <a:ext cx="4572000" cy="3840480"/>
          </a:xfrm>
          <a:prstGeom prst="rect">
            <a:avLst/>
          </a:prstGeom>
          <a:noFill/>
        </p:spPr>
        <p:txBody>
          <a:bodyPr wrap="square">
            <a:spAutoFit/>
          </a:bodyPr>
          <a:lstStyle/>
          <a:p>
            <a:pPr algn="ctr">
              <a:spcAft>
                <a:spcPts val="1400"/>
              </a:spcAft>
              <a:defRPr b="1" sz="1600">
                <a:solidFill>
                  <a:srgbClr val="0284C7"/>
                </a:solidFill>
              </a:defRPr>
            </a:pPr>
            <a:r>
              <a:t>📸 ESPACIO PARA CAPTURA REAL</a:t>
            </a:r>
          </a:p>
          <a:p>
            <a:pPr algn="ctr">
              <a:spcAft>
                <a:spcPts val="1800"/>
              </a:spcAft>
              <a:defRPr sz="1300">
                <a:solidFill>
                  <a:srgbClr val="64748B"/>
                </a:solidFill>
              </a:defRPr>
            </a:pPr>
            <a:r>
              <a:t>Pegar aquí Captura Real de las Opciones de Cabecera ('Reactivar Bot' y Menú de Perfil)</a:t>
            </a:r>
          </a:p>
          <a:p>
            <a:pPr algn="ctr">
              <a:defRPr i="1" sz="1100">
                <a:solidFill>
                  <a:srgbClr val="94A3B8"/>
                </a:solidFill>
              </a:defRPr>
            </a:pPr>
            <a:r>
              <a:t>(Toma la captura en tu pantalla con Windows + Shift + S y pégala aquí)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